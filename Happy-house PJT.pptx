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7" r:id="rId2"/>
    <p:sldId id="267" r:id="rId3"/>
    <p:sldId id="269" r:id="rId4"/>
    <p:sldId id="270" r:id="rId5"/>
    <p:sldId id="273" r:id="rId6"/>
    <p:sldId id="272" r:id="rId7"/>
    <p:sldId id="271" r:id="rId8"/>
    <p:sldId id="274" r:id="rId9"/>
    <p:sldId id="276" r:id="rId10"/>
    <p:sldId id="287" r:id="rId11"/>
    <p:sldId id="288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79" r:id="rId20"/>
  </p:sldIdLst>
  <p:sldSz cx="12192000" cy="6858000"/>
  <p:notesSz cx="6858000" cy="9144000"/>
  <p:embeddedFontLst>
    <p:embeddedFont>
      <p:font typeface="나눔스퀘어_ac" panose="020B0600000101010101" pitchFamily="50" charset="-127"/>
      <p:regular r:id="rId21"/>
    </p:embeddedFont>
    <p:embeddedFont>
      <p:font typeface="나눔스퀘어_ac Bold" panose="020B0600000101010101" pitchFamily="50" charset="-127"/>
      <p:bold r:id="rId22"/>
    </p:embeddedFont>
    <p:embeddedFont>
      <p:font typeface="나눔스퀘어_ac ExtraBold" panose="020B0600000101010101" pitchFamily="50" charset="-127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82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667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140474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644672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374370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580053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74949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372481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908843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118276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258496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19352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2022-06-21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ll/>
  </p:transition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265B0F-6A62-4D15-B27D-48FBA239DCB3}"/>
              </a:ext>
            </a:extLst>
          </p:cNvPr>
          <p:cNvSpPr/>
          <p:nvPr/>
        </p:nvSpPr>
        <p:spPr>
          <a:xfrm>
            <a:off x="3548010" y="752098"/>
            <a:ext cx="5449453" cy="5500914"/>
          </a:xfrm>
          <a:prstGeom prst="roundRect">
            <a:avLst>
              <a:gd name="adj" fmla="val 6925"/>
            </a:avLst>
          </a:prstGeom>
          <a:solidFill>
            <a:srgbClr val="382F80"/>
          </a:solidFill>
          <a:ln>
            <a:noFill/>
          </a:ln>
          <a:effectLst>
            <a:outerShdw blurRad="304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20F08F-9400-480E-893B-2BD8CC7A3874}"/>
              </a:ext>
            </a:extLst>
          </p:cNvPr>
          <p:cNvSpPr/>
          <p:nvPr/>
        </p:nvSpPr>
        <p:spPr>
          <a:xfrm>
            <a:off x="3946421" y="3716642"/>
            <a:ext cx="4652633" cy="2536370"/>
          </a:xfrm>
          <a:prstGeom prst="roundRect">
            <a:avLst>
              <a:gd name="adj" fmla="val 78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FAEEC9-72DF-44D0-A353-3DDA14FA5102}"/>
              </a:ext>
            </a:extLst>
          </p:cNvPr>
          <p:cNvSpPr/>
          <p:nvPr/>
        </p:nvSpPr>
        <p:spPr>
          <a:xfrm>
            <a:off x="3969511" y="2686002"/>
            <a:ext cx="4629543" cy="304965"/>
          </a:xfrm>
          <a:prstGeom prst="roundRect">
            <a:avLst>
              <a:gd name="adj" fmla="val 10342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실거래가 검색 웹사이트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019BEF-FD97-46A3-BDC2-B419B7328429}"/>
              </a:ext>
            </a:extLst>
          </p:cNvPr>
          <p:cNvGrpSpPr/>
          <p:nvPr/>
        </p:nvGrpSpPr>
        <p:grpSpPr>
          <a:xfrm>
            <a:off x="3807506" y="987457"/>
            <a:ext cx="162005" cy="149510"/>
            <a:chOff x="752762" y="601945"/>
            <a:chExt cx="329913" cy="285555"/>
          </a:xfrm>
          <a:solidFill>
            <a:srgbClr val="FE615C"/>
          </a:solidFill>
        </p:grpSpPr>
        <p:sp>
          <p:nvSpPr>
            <p:cNvPr id="15" name="모서리가 둥근 직사각형 68">
              <a:extLst>
                <a:ext uri="{FF2B5EF4-FFF2-40B4-BE49-F238E27FC236}">
                  <a16:creationId xmlns:a16="http://schemas.microsoft.com/office/drawing/2014/main" id="{20C4C86B-8037-41B4-8A18-C2E25795DCB3}"/>
                </a:ext>
              </a:extLst>
            </p:cNvPr>
            <p:cNvSpPr/>
            <p:nvPr/>
          </p:nvSpPr>
          <p:spPr>
            <a:xfrm>
              <a:off x="752762" y="601945"/>
              <a:ext cx="32991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모서리가 둥근 직사각형 69">
              <a:extLst>
                <a:ext uri="{FF2B5EF4-FFF2-40B4-BE49-F238E27FC236}">
                  <a16:creationId xmlns:a16="http://schemas.microsoft.com/office/drawing/2014/main" id="{BCAD96AD-A50D-40E3-9164-DEB47D7FD9C1}"/>
                </a:ext>
              </a:extLst>
            </p:cNvPr>
            <p:cNvSpPr/>
            <p:nvPr/>
          </p:nvSpPr>
          <p:spPr>
            <a:xfrm>
              <a:off x="752762" y="688730"/>
              <a:ext cx="257176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모서리가 둥근 직사각형 70">
              <a:extLst>
                <a:ext uri="{FF2B5EF4-FFF2-40B4-BE49-F238E27FC236}">
                  <a16:creationId xmlns:a16="http://schemas.microsoft.com/office/drawing/2014/main" id="{0E500BE4-452C-4BC9-BCCB-4BF0C4105DB2}"/>
                </a:ext>
              </a:extLst>
            </p:cNvPr>
            <p:cNvSpPr/>
            <p:nvPr/>
          </p:nvSpPr>
          <p:spPr>
            <a:xfrm>
              <a:off x="752762" y="775515"/>
              <a:ext cx="18002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모서리가 둥근 직사각형 71">
              <a:extLst>
                <a:ext uri="{FF2B5EF4-FFF2-40B4-BE49-F238E27FC236}">
                  <a16:creationId xmlns:a16="http://schemas.microsoft.com/office/drawing/2014/main" id="{4538DF11-B849-48FE-B436-F70F71B9B111}"/>
                </a:ext>
              </a:extLst>
            </p:cNvPr>
            <p:cNvSpPr/>
            <p:nvPr/>
          </p:nvSpPr>
          <p:spPr>
            <a:xfrm>
              <a:off x="752762" y="862300"/>
              <a:ext cx="28289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BE43B2-0F01-4359-A2A4-2D89CA971130}"/>
              </a:ext>
            </a:extLst>
          </p:cNvPr>
          <p:cNvGrpSpPr/>
          <p:nvPr/>
        </p:nvGrpSpPr>
        <p:grpSpPr>
          <a:xfrm>
            <a:off x="4061874" y="2760924"/>
            <a:ext cx="128949" cy="155119"/>
            <a:chOff x="9318625" y="1320799"/>
            <a:chExt cx="411780" cy="495349"/>
          </a:xfrm>
          <a:solidFill>
            <a:schemeClr val="bg1">
              <a:lumMod val="65000"/>
            </a:schemeClr>
          </a:solidFill>
        </p:grpSpPr>
        <p:sp>
          <p:nvSpPr>
            <p:cNvPr id="12" name="원형: 비어 있음 10">
              <a:extLst>
                <a:ext uri="{FF2B5EF4-FFF2-40B4-BE49-F238E27FC236}">
                  <a16:creationId xmlns:a16="http://schemas.microsoft.com/office/drawing/2014/main" id="{ADBCE68D-5235-4D75-9BBC-8CE1CEFFDDDD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9C44FD8-FD6F-4BB5-A9A1-B79421FF912D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4C3B51C-52FE-45E6-8DCB-2102461D03FE}"/>
              </a:ext>
            </a:extLst>
          </p:cNvPr>
          <p:cNvSpPr txBox="1"/>
          <p:nvPr/>
        </p:nvSpPr>
        <p:spPr>
          <a:xfrm>
            <a:off x="4575308" y="1139659"/>
            <a:ext cx="4023746" cy="121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5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HAEBANG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68EDAB-AEF9-C524-C355-4A617AAB51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305" y="4548338"/>
            <a:ext cx="1438862" cy="14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8623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 기획 배경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BD9EA5E-4003-FF68-6B75-BE24B726C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517" y="1923803"/>
            <a:ext cx="9443453" cy="4351338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공공데이터와 </a:t>
            </a:r>
            <a:r>
              <a:rPr lang="ko-KR" altLang="en-US" sz="2400" b="0" i="0" dirty="0" err="1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카카오맵</a:t>
            </a:r>
            <a:r>
              <a:rPr lang="ko-KR" altLang="en-US" sz="24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24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24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활용한 아파트 실거래가 정보 제공 사이트</a:t>
            </a: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r>
              <a:rPr lang="ko-KR" altLang="en-US" sz="2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 검색 시 정확한 이름을 검색하지 않으면 지도에 보여주지 않음</a:t>
            </a:r>
            <a:endParaRPr lang="en-US" altLang="ko-KR" sz="2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</a:t>
            </a:r>
            <a:r>
              <a:rPr lang="ko-KR" altLang="en-US" sz="2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 실거래가 추이를 한눈에 확인하기가 어려움</a:t>
            </a:r>
            <a:endParaRPr lang="en-US" altLang="ko-KR" sz="2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2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</a:t>
            </a:r>
            <a:r>
              <a:rPr lang="ko-KR" altLang="en-US" sz="2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아파트에 대한 정보 거래를 하려면 또다른 카페나 홈페이지를 방문해야 함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960747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2012023"/>
            <a:ext cx="167568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4675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 목표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BD9EA5E-4003-FF68-6B75-BE24B726C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517" y="1914567"/>
            <a:ext cx="10256983" cy="4351338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부동산과 관련된 다양한 웹</a:t>
            </a:r>
            <a:r>
              <a:rPr lang="en-US" altLang="ko-KR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앱 사이트들을 사용하면서 바라던 점을 토대로</a:t>
            </a:r>
            <a:endParaRPr lang="en-US" altLang="ko-KR" sz="2200" b="0" i="0" dirty="0">
              <a:solidFill>
                <a:srgbClr val="24292F"/>
              </a:solidFill>
              <a:effectLst/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r>
              <a:rPr lang="ko-KR" altLang="en-US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공공데이터와 카카오 맵 </a:t>
            </a:r>
            <a:r>
              <a:rPr lang="en-US" altLang="ko-KR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API</a:t>
            </a:r>
            <a:r>
              <a:rPr lang="ko-KR" altLang="en-US" sz="2200" b="0" i="0" dirty="0">
                <a:solidFill>
                  <a:srgbClr val="24292F"/>
                </a:solidFill>
                <a:effectLst/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활용한 차별화된 아파트 실거래가 정보 제공 사이트</a:t>
            </a:r>
            <a:endParaRPr lang="en-US" altLang="ko-KR" sz="2200" b="0" i="0" dirty="0">
              <a:solidFill>
                <a:srgbClr val="24292F"/>
              </a:solidFill>
              <a:effectLst/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 검색 시 정확한 이름 검색하지 않으면 지도에 보여주지 않음 </a:t>
            </a:r>
            <a:endParaRPr lang="en-US" altLang="ko-KR" sz="2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   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-&gt;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단어 검색만을 통해 아파트 정보 조회 가능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endParaRPr lang="en-US" altLang="ko-KR" sz="3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 실거래가 추이를 한눈에 확인하기가 어려움</a:t>
            </a:r>
            <a:endParaRPr lang="en-US" altLang="ko-KR" sz="2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-&gt;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그래프를 통해 아파트 실거래가 추이를 보다 쉽게 파악 가능</a:t>
            </a:r>
            <a:endParaRPr lang="en-US" altLang="ko-KR"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buNone/>
            </a:pPr>
            <a:endParaRPr lang="en-US" altLang="ko-KR" sz="3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아파트에 대한 정보 거래를 하려면 또 다른 카페나 홈페이지를 방문해야 함</a:t>
            </a:r>
            <a:endParaRPr lang="en-US" altLang="ko-KR" sz="2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-&gt; Q&amp;A </a:t>
            </a: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게시판을 통해 다양한 정보 교환 가능 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960747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2012023"/>
            <a:ext cx="167568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8386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 일정  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2020.05.19 - 05.26</a:t>
            </a:r>
          </a:p>
          <a:p>
            <a:pPr lvl="2" latinLnBrk="0">
              <a:lnSpc>
                <a:spcPct val="150000"/>
              </a:lnSpc>
              <a:defRPr/>
            </a:pP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9EF12DC-AC9B-A8B9-0756-687092A55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12505"/>
              </p:ext>
            </p:extLst>
          </p:nvPr>
        </p:nvGraphicFramePr>
        <p:xfrm>
          <a:off x="919785" y="2050472"/>
          <a:ext cx="10585420" cy="3407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891">
                  <a:extLst>
                    <a:ext uri="{9D8B030D-6E8A-4147-A177-3AD203B41FA5}">
                      <a16:colId xmlns:a16="http://schemas.microsoft.com/office/drawing/2014/main" val="1862637581"/>
                    </a:ext>
                  </a:extLst>
                </a:gridCol>
                <a:gridCol w="1034473">
                  <a:extLst>
                    <a:ext uri="{9D8B030D-6E8A-4147-A177-3AD203B41FA5}">
                      <a16:colId xmlns:a16="http://schemas.microsoft.com/office/drawing/2014/main" val="1523805617"/>
                    </a:ext>
                  </a:extLst>
                </a:gridCol>
                <a:gridCol w="1006764">
                  <a:extLst>
                    <a:ext uri="{9D8B030D-6E8A-4147-A177-3AD203B41FA5}">
                      <a16:colId xmlns:a16="http://schemas.microsoft.com/office/drawing/2014/main" val="4035215102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3594423785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1744725857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2718071343"/>
                    </a:ext>
                  </a:extLst>
                </a:gridCol>
                <a:gridCol w="1114290">
                  <a:extLst>
                    <a:ext uri="{9D8B030D-6E8A-4147-A177-3AD203B41FA5}">
                      <a16:colId xmlns:a16="http://schemas.microsoft.com/office/drawing/2014/main" val="331213635"/>
                    </a:ext>
                  </a:extLst>
                </a:gridCol>
              </a:tblGrid>
              <a:tr h="647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5/19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5/21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5/22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5/23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5/24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5/25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5/26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요구사항 분석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기획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기능 구현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테스트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보고서 작성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71959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5ACED30-DEC2-761C-8327-52EBAFDEEB9A}"/>
              </a:ext>
            </a:extLst>
          </p:cNvPr>
          <p:cNvSpPr/>
          <p:nvPr/>
        </p:nvSpPr>
        <p:spPr>
          <a:xfrm>
            <a:off x="3131127" y="2835564"/>
            <a:ext cx="1103745" cy="2493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C10DFE0-17F9-A389-F5FA-CD1D63AA83BB}"/>
              </a:ext>
            </a:extLst>
          </p:cNvPr>
          <p:cNvSpPr/>
          <p:nvPr/>
        </p:nvSpPr>
        <p:spPr>
          <a:xfrm>
            <a:off x="4096332" y="3396673"/>
            <a:ext cx="2128983" cy="2493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88A4CA-8FE2-9649-7541-74D4BEC2457E}"/>
              </a:ext>
            </a:extLst>
          </p:cNvPr>
          <p:cNvSpPr/>
          <p:nvPr/>
        </p:nvSpPr>
        <p:spPr>
          <a:xfrm>
            <a:off x="4096332" y="3957782"/>
            <a:ext cx="6313055" cy="2493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F4439F2-90CB-1BA7-21AC-5E875B7CDFFA}"/>
              </a:ext>
            </a:extLst>
          </p:cNvPr>
          <p:cNvSpPr/>
          <p:nvPr/>
        </p:nvSpPr>
        <p:spPr>
          <a:xfrm>
            <a:off x="8294260" y="4509655"/>
            <a:ext cx="2115127" cy="2493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B27DCA8-0D4A-C4F1-0EA1-F2C77C84B91D}"/>
              </a:ext>
            </a:extLst>
          </p:cNvPr>
          <p:cNvSpPr/>
          <p:nvPr/>
        </p:nvSpPr>
        <p:spPr>
          <a:xfrm>
            <a:off x="2992587" y="2835564"/>
            <a:ext cx="2207491" cy="2493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73244E-09C8-0D1D-0051-CA099557CB27}"/>
              </a:ext>
            </a:extLst>
          </p:cNvPr>
          <p:cNvSpPr/>
          <p:nvPr/>
        </p:nvSpPr>
        <p:spPr>
          <a:xfrm>
            <a:off x="10409388" y="5061137"/>
            <a:ext cx="1095818" cy="24938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37697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 일정  </a:t>
            </a:r>
            <a:r>
              <a:rPr lang="en-US" altLang="ko-KR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2020.05.19 - 05.26</a:t>
            </a:r>
          </a:p>
          <a:p>
            <a:pPr lvl="2" latinLnBrk="0">
              <a:lnSpc>
                <a:spcPct val="150000"/>
              </a:lnSpc>
              <a:defRPr/>
            </a:pP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9EF12DC-AC9B-A8B9-0756-687092A55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987422"/>
              </p:ext>
            </p:extLst>
          </p:nvPr>
        </p:nvGraphicFramePr>
        <p:xfrm>
          <a:off x="919785" y="2050472"/>
          <a:ext cx="10585420" cy="3523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891">
                  <a:extLst>
                    <a:ext uri="{9D8B030D-6E8A-4147-A177-3AD203B41FA5}">
                      <a16:colId xmlns:a16="http://schemas.microsoft.com/office/drawing/2014/main" val="1862637581"/>
                    </a:ext>
                  </a:extLst>
                </a:gridCol>
                <a:gridCol w="1034473">
                  <a:extLst>
                    <a:ext uri="{9D8B030D-6E8A-4147-A177-3AD203B41FA5}">
                      <a16:colId xmlns:a16="http://schemas.microsoft.com/office/drawing/2014/main" val="1523805617"/>
                    </a:ext>
                  </a:extLst>
                </a:gridCol>
                <a:gridCol w="1006764">
                  <a:extLst>
                    <a:ext uri="{9D8B030D-6E8A-4147-A177-3AD203B41FA5}">
                      <a16:colId xmlns:a16="http://schemas.microsoft.com/office/drawing/2014/main" val="4035215102"/>
                    </a:ext>
                  </a:extLst>
                </a:gridCol>
                <a:gridCol w="1043709">
                  <a:extLst>
                    <a:ext uri="{9D8B030D-6E8A-4147-A177-3AD203B41FA5}">
                      <a16:colId xmlns:a16="http://schemas.microsoft.com/office/drawing/2014/main" val="3594423785"/>
                    </a:ext>
                  </a:extLst>
                </a:gridCol>
                <a:gridCol w="1052945">
                  <a:extLst>
                    <a:ext uri="{9D8B030D-6E8A-4147-A177-3AD203B41FA5}">
                      <a16:colId xmlns:a16="http://schemas.microsoft.com/office/drawing/2014/main" val="1744725857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2718071343"/>
                    </a:ext>
                  </a:extLst>
                </a:gridCol>
                <a:gridCol w="1114290">
                  <a:extLst>
                    <a:ext uri="{9D8B030D-6E8A-4147-A177-3AD203B41FA5}">
                      <a16:colId xmlns:a16="http://schemas.microsoft.com/office/drawing/2014/main" val="331213635"/>
                    </a:ext>
                  </a:extLst>
                </a:gridCol>
              </a:tblGrid>
              <a:tr h="647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5/19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5/20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5/21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5/22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5/23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5/24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5/25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  5/26</a:t>
                      </a:r>
                    </a:p>
                  </a:txBody>
                  <a:tcPr marL="21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회원관련 기능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lnSpc>
                          <a:spcPct val="150000"/>
                        </a:lnSpc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로그인</a:t>
                      </a:r>
                      <a:r>
                        <a:rPr kumimoji="0" lang="en-US" altLang="ko-KR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로그아웃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게시판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4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아파트 실거래가 검색 기능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uLnTx/>
                          <a:uFillTx/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  <a:cs typeface="+mn-cs"/>
                        </a:rPr>
                        <a:t>지도 기능</a:t>
                      </a:r>
                      <a:endParaRPr kumimoji="0" lang="en-US" altLang="ko-KR" sz="1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uLnTx/>
                        <a:uFillTx/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  <a:cs typeface="+mn-cs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21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71959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C10DFE0-17F9-A389-F5FA-CD1D63AA83BB}"/>
              </a:ext>
            </a:extLst>
          </p:cNvPr>
          <p:cNvSpPr/>
          <p:nvPr/>
        </p:nvSpPr>
        <p:spPr>
          <a:xfrm>
            <a:off x="6271491" y="3429000"/>
            <a:ext cx="3054931" cy="2376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788A4CA-8FE2-9649-7541-74D4BEC2457E}"/>
              </a:ext>
            </a:extLst>
          </p:cNvPr>
          <p:cNvSpPr/>
          <p:nvPr/>
        </p:nvSpPr>
        <p:spPr>
          <a:xfrm>
            <a:off x="4112496" y="3949425"/>
            <a:ext cx="2158995" cy="2376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F4439F2-90CB-1BA7-21AC-5E875B7CDFFA}"/>
              </a:ext>
            </a:extLst>
          </p:cNvPr>
          <p:cNvSpPr/>
          <p:nvPr/>
        </p:nvSpPr>
        <p:spPr>
          <a:xfrm>
            <a:off x="4858326" y="4551697"/>
            <a:ext cx="4468095" cy="21828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B27DCA8-0D4A-C4F1-0EA1-F2C77C84B91D}"/>
              </a:ext>
            </a:extLst>
          </p:cNvPr>
          <p:cNvSpPr/>
          <p:nvPr/>
        </p:nvSpPr>
        <p:spPr>
          <a:xfrm>
            <a:off x="4096331" y="2856550"/>
            <a:ext cx="3108033" cy="23763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D73244E-09C8-0D1D-0051-CA099557CB27}"/>
              </a:ext>
            </a:extLst>
          </p:cNvPr>
          <p:cNvSpPr/>
          <p:nvPr/>
        </p:nvSpPr>
        <p:spPr>
          <a:xfrm>
            <a:off x="5655962" y="5177470"/>
            <a:ext cx="4818073" cy="21828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44728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프로젝트 </a:t>
            </a:r>
            <a:r>
              <a:rPr lang="ko-KR" altLang="en-US" sz="2400" b="1" kern="0" dirty="0" err="1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차별점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BD9EA5E-4003-FF68-6B75-BE24B726C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319" y="1790715"/>
            <a:ext cx="8903361" cy="4351338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MBTI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같이 설문조사를 통한 유형별 맞춤형 지역 추천</a:t>
            </a: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실거래가 검색 세분화 및 편리화</a:t>
            </a: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기존 서비스가 제공하는 정보를</a:t>
            </a:r>
            <a:r>
              <a:rPr lang="en-US" altLang="ko-KR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포함한 다양한 환경 정보 제공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시세 흐름을 한눈에 확인하기 쉬운 그래프로 제공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979219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2030495"/>
            <a:ext cx="167568" cy="21544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660F5EFA-2363-68BF-14D2-C31674A36595}"/>
              </a:ext>
            </a:extLst>
          </p:cNvPr>
          <p:cNvSpPr/>
          <p:nvPr/>
        </p:nvSpPr>
        <p:spPr>
          <a:xfrm>
            <a:off x="1192466" y="2648853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F8C2885-C01D-512E-3D06-1AD72C1B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50" y="2700129"/>
            <a:ext cx="167568" cy="215444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A1FAFC18-8CF9-8927-6D01-4E140E760CA1}"/>
              </a:ext>
            </a:extLst>
          </p:cNvPr>
          <p:cNvSpPr/>
          <p:nvPr/>
        </p:nvSpPr>
        <p:spPr>
          <a:xfrm>
            <a:off x="1201703" y="3330323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9B77D46-1943-296A-0DED-9B46A0DD1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87" y="3381599"/>
            <a:ext cx="167568" cy="215444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9EBD047D-5F88-5D59-C3EE-6E0D702C428E}"/>
              </a:ext>
            </a:extLst>
          </p:cNvPr>
          <p:cNvSpPr/>
          <p:nvPr/>
        </p:nvSpPr>
        <p:spPr>
          <a:xfrm>
            <a:off x="1201703" y="4002247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8E4EBAF-0100-CAD6-0C89-2CBD5B9C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887" y="4053523"/>
            <a:ext cx="167568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9031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개발 환경</a:t>
            </a:r>
            <a:r>
              <a:rPr lang="en-US" altLang="ko-KR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, </a:t>
            </a: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프레임워크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2D03C17E-DEA9-A3C5-705B-6CCE241C7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341" y="2614007"/>
            <a:ext cx="1615156" cy="41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MYSQL] node와 mysql 연동">
            <a:extLst>
              <a:ext uri="{FF2B5EF4-FFF2-40B4-BE49-F238E27FC236}">
                <a16:creationId xmlns:a16="http://schemas.microsoft.com/office/drawing/2014/main" id="{BF6AB659-3E2C-F263-5618-E035039DA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163" y="4666902"/>
            <a:ext cx="1419272" cy="946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ootstrapVue">
            <a:extLst>
              <a:ext uri="{FF2B5EF4-FFF2-40B4-BE49-F238E27FC236}">
                <a16:creationId xmlns:a16="http://schemas.microsoft.com/office/drawing/2014/main" id="{4E1CBF08-0E43-A2B0-5CE5-7AD334DBE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57" y="2643261"/>
            <a:ext cx="637597" cy="63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시작하기 — Vue.js">
            <a:extLst>
              <a:ext uri="{FF2B5EF4-FFF2-40B4-BE49-F238E27FC236}">
                <a16:creationId xmlns:a16="http://schemas.microsoft.com/office/drawing/2014/main" id="{CAFF583B-1905-AFB4-FA73-58F2A8BAD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2746" y="2621437"/>
            <a:ext cx="650774" cy="65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0E2AF08-5EA8-217A-F622-2A0DD9EC2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851" y="3378911"/>
            <a:ext cx="637597" cy="637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ring Boot) 스타트 스프링 부트 001일차 - 스프링(부트), 빌드툴, VO, Lombok, 어노테이션, Jackson,  ORM, JPA, Hibernate | 오늘도 끄적끄적">
            <a:extLst>
              <a:ext uri="{FF2B5EF4-FFF2-40B4-BE49-F238E27FC236}">
                <a16:creationId xmlns:a16="http://schemas.microsoft.com/office/drawing/2014/main" id="{E9C2623D-BA4E-4AC0-71EF-371D02130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2770" y="3140612"/>
            <a:ext cx="617268" cy="617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69B46C-B3F9-8BA9-2EF3-D11F6427B295}"/>
              </a:ext>
            </a:extLst>
          </p:cNvPr>
          <p:cNvSpPr txBox="1"/>
          <p:nvPr/>
        </p:nvSpPr>
        <p:spPr>
          <a:xfrm>
            <a:off x="1424211" y="2473019"/>
            <a:ext cx="20360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Aharoni" panose="02010803020104030203" pitchFamily="2" charset="-79"/>
              </a:rPr>
              <a:t>FrontEnd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Aharoni" panose="02010803020104030203" pitchFamily="2" charset="-79"/>
            </a:endParaRPr>
          </a:p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Vue.js </a:t>
            </a:r>
          </a:p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Bootstrap </a:t>
            </a:r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vue</a:t>
            </a: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6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VsCode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Aharoni" panose="02010803020104030203" pitchFamily="2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6C7CB9-73DF-C79E-5D52-D9296C679584}"/>
              </a:ext>
            </a:extLst>
          </p:cNvPr>
          <p:cNvSpPr txBox="1"/>
          <p:nvPr/>
        </p:nvSpPr>
        <p:spPr>
          <a:xfrm>
            <a:off x="8649816" y="2516677"/>
            <a:ext cx="1775388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Aharoni" panose="02010803020104030203" pitchFamily="2" charset="-79"/>
              </a:rPr>
              <a:t>BackEnd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Aharoni" panose="02010803020104030203" pitchFamily="2" charset="-79"/>
            </a:endParaRPr>
          </a:p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Spring boot</a:t>
            </a:r>
          </a:p>
          <a:p>
            <a:pPr algn="ctr"/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STS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Aharoni" panose="02010803020104030203" pitchFamily="2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1250F4-56DC-2382-F55B-68E8FF02E7E7}"/>
              </a:ext>
            </a:extLst>
          </p:cNvPr>
          <p:cNvSpPr txBox="1"/>
          <p:nvPr/>
        </p:nvSpPr>
        <p:spPr>
          <a:xfrm>
            <a:off x="4421808" y="5553632"/>
            <a:ext cx="3385981" cy="83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Aharoni" panose="02010803020104030203" pitchFamily="2" charset="-79"/>
              </a:rPr>
              <a:t>DataBase</a:t>
            </a:r>
            <a:endParaRPr lang="en-US" altLang="ko-KR" dirty="0"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Aharoni" panose="02010803020104030203" pitchFamily="2" charset="-79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MySQL</a:t>
            </a:r>
            <a:endParaRPr lang="en-US" altLang="ko-KR" sz="16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Aharoni" panose="02010803020104030203" pitchFamily="2" charset="-79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F72C6A2-ED0A-5362-F306-039640BEF0BB}"/>
              </a:ext>
            </a:extLst>
          </p:cNvPr>
          <p:cNvGrpSpPr/>
          <p:nvPr/>
        </p:nvGrpSpPr>
        <p:grpSpPr>
          <a:xfrm>
            <a:off x="4865760" y="2168902"/>
            <a:ext cx="2699887" cy="2447021"/>
            <a:chOff x="3911600" y="2044700"/>
            <a:chExt cx="3276600" cy="2969720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7700892-6BB9-8134-3825-EF2E609ADFB8}"/>
                </a:ext>
              </a:extLst>
            </p:cNvPr>
            <p:cNvCxnSpPr/>
            <p:nvPr/>
          </p:nvCxnSpPr>
          <p:spPr>
            <a:xfrm>
              <a:off x="5465763" y="2044700"/>
              <a:ext cx="1722437" cy="2969720"/>
            </a:xfrm>
            <a:prstGeom prst="line">
              <a:avLst/>
            </a:prstGeom>
            <a:ln w="28575">
              <a:solidFill>
                <a:srgbClr val="382F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5849FC4E-31B5-3E68-BC48-D8FA2E9744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1600" y="2044700"/>
              <a:ext cx="1554163" cy="2670175"/>
            </a:xfrm>
            <a:prstGeom prst="line">
              <a:avLst/>
            </a:prstGeom>
            <a:ln w="28575">
              <a:solidFill>
                <a:srgbClr val="382F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2319AE7-3D64-B3F6-CDB8-34C5D6A9B30A}"/>
              </a:ext>
            </a:extLst>
          </p:cNvPr>
          <p:cNvGrpSpPr/>
          <p:nvPr/>
        </p:nvGrpSpPr>
        <p:grpSpPr>
          <a:xfrm rot="7200000">
            <a:off x="4970407" y="2838641"/>
            <a:ext cx="2699887" cy="2447021"/>
            <a:chOff x="3911600" y="2044700"/>
            <a:chExt cx="3276600" cy="2969720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5E78F385-CA4C-3596-BC51-8B77C912654F}"/>
                </a:ext>
              </a:extLst>
            </p:cNvPr>
            <p:cNvCxnSpPr/>
            <p:nvPr/>
          </p:nvCxnSpPr>
          <p:spPr>
            <a:xfrm>
              <a:off x="5465763" y="2044700"/>
              <a:ext cx="1722437" cy="2969720"/>
            </a:xfrm>
            <a:prstGeom prst="line">
              <a:avLst/>
            </a:prstGeom>
            <a:ln w="28575">
              <a:solidFill>
                <a:srgbClr val="382F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D787D20-4BB2-7716-7108-76AB4F837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1600" y="2044700"/>
              <a:ext cx="1554163" cy="2670175"/>
            </a:xfrm>
            <a:prstGeom prst="line">
              <a:avLst/>
            </a:prstGeom>
            <a:ln w="28575">
              <a:solidFill>
                <a:srgbClr val="382F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93849F2-5883-5586-0C35-8813A2FF4B98}"/>
              </a:ext>
            </a:extLst>
          </p:cNvPr>
          <p:cNvGrpSpPr/>
          <p:nvPr/>
        </p:nvGrpSpPr>
        <p:grpSpPr>
          <a:xfrm rot="14400000">
            <a:off x="4330099" y="2578891"/>
            <a:ext cx="2699887" cy="2447021"/>
            <a:chOff x="3911600" y="2044700"/>
            <a:chExt cx="3276600" cy="2969720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1C27C277-23E6-1F72-34DA-D7C6F8197747}"/>
                </a:ext>
              </a:extLst>
            </p:cNvPr>
            <p:cNvCxnSpPr/>
            <p:nvPr/>
          </p:nvCxnSpPr>
          <p:spPr>
            <a:xfrm>
              <a:off x="5465763" y="2044700"/>
              <a:ext cx="1722437" cy="296972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4EDD2C1F-E6C5-E912-2645-39BA30504B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1600" y="2044700"/>
              <a:ext cx="1554163" cy="2670175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6370852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모서리가 둥근 직사각형 45">
            <a:extLst>
              <a:ext uri="{FF2B5EF4-FFF2-40B4-BE49-F238E27FC236}">
                <a16:creationId xmlns:a16="http://schemas.microsoft.com/office/drawing/2014/main" id="{33F8808A-FFFA-EECD-6BB9-0C00E15DE907}"/>
              </a:ext>
            </a:extLst>
          </p:cNvPr>
          <p:cNvSpPr/>
          <p:nvPr/>
        </p:nvSpPr>
        <p:spPr>
          <a:xfrm>
            <a:off x="5747568" y="2406315"/>
            <a:ext cx="5147291" cy="3469528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모서리가 둥근 직사각형 45">
            <a:extLst>
              <a:ext uri="{FF2B5EF4-FFF2-40B4-BE49-F238E27FC236}">
                <a16:creationId xmlns:a16="http://schemas.microsoft.com/office/drawing/2014/main" id="{D1DA2347-711E-ECA0-0D2E-A64B0D35E735}"/>
              </a:ext>
            </a:extLst>
          </p:cNvPr>
          <p:cNvSpPr/>
          <p:nvPr/>
        </p:nvSpPr>
        <p:spPr>
          <a:xfrm>
            <a:off x="1542472" y="2406315"/>
            <a:ext cx="3491345" cy="3469527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구조도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2012023"/>
            <a:ext cx="167568" cy="215444"/>
          </a:xfrm>
          <a:prstGeom prst="rect">
            <a:avLst/>
          </a:prstGeom>
        </p:spPr>
      </p:pic>
      <p:sp>
        <p:nvSpPr>
          <p:cNvPr id="14" name="모서리가 둥근 직사각형 43">
            <a:extLst>
              <a:ext uri="{FF2B5EF4-FFF2-40B4-BE49-F238E27FC236}">
                <a16:creationId xmlns:a16="http://schemas.microsoft.com/office/drawing/2014/main" id="{AF528E15-0724-9906-F8E9-51695C0823C9}"/>
              </a:ext>
            </a:extLst>
          </p:cNvPr>
          <p:cNvSpPr/>
          <p:nvPr/>
        </p:nvSpPr>
        <p:spPr>
          <a:xfrm>
            <a:off x="2614293" y="3546957"/>
            <a:ext cx="1347700" cy="584946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5FC72-FD7D-4625-F2C7-233F281CBA8A}"/>
              </a:ext>
            </a:extLst>
          </p:cNvPr>
          <p:cNvSpPr txBox="1"/>
          <p:nvPr/>
        </p:nvSpPr>
        <p:spPr>
          <a:xfrm>
            <a:off x="9054274" y="1844324"/>
            <a:ext cx="150552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Spring boot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866FF-6830-F0D1-EC15-48514695EE80}"/>
              </a:ext>
            </a:extLst>
          </p:cNvPr>
          <p:cNvSpPr txBox="1"/>
          <p:nvPr/>
        </p:nvSpPr>
        <p:spPr>
          <a:xfrm>
            <a:off x="1311394" y="1792193"/>
            <a:ext cx="1505527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Vue.js</a:t>
            </a:r>
          </a:p>
        </p:txBody>
      </p:sp>
      <p:pic>
        <p:nvPicPr>
          <p:cNvPr id="24" name="Picture 4" descr="시작하기 — Vue.js">
            <a:extLst>
              <a:ext uri="{FF2B5EF4-FFF2-40B4-BE49-F238E27FC236}">
                <a16:creationId xmlns:a16="http://schemas.microsoft.com/office/drawing/2014/main" id="{D49C5B0D-CA89-AD6B-655C-6B4BEDA25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246" y="2644587"/>
            <a:ext cx="650774" cy="65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모서리가 둥근 직사각형 43">
            <a:extLst>
              <a:ext uri="{FF2B5EF4-FFF2-40B4-BE49-F238E27FC236}">
                <a16:creationId xmlns:a16="http://schemas.microsoft.com/office/drawing/2014/main" id="{9D521539-47A1-4C6F-5852-B5F6B80B4233}"/>
              </a:ext>
            </a:extLst>
          </p:cNvPr>
          <p:cNvSpPr/>
          <p:nvPr/>
        </p:nvSpPr>
        <p:spPr>
          <a:xfrm>
            <a:off x="1432782" y="4109503"/>
            <a:ext cx="1006430" cy="646910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Router</a:t>
            </a:r>
          </a:p>
        </p:txBody>
      </p:sp>
      <p:sp>
        <p:nvSpPr>
          <p:cNvPr id="29" name="모서리가 둥근 직사각형 43">
            <a:extLst>
              <a:ext uri="{FF2B5EF4-FFF2-40B4-BE49-F238E27FC236}">
                <a16:creationId xmlns:a16="http://schemas.microsoft.com/office/drawing/2014/main" id="{08B8357F-1D8C-52CE-A57E-DD72A569128D}"/>
              </a:ext>
            </a:extLst>
          </p:cNvPr>
          <p:cNvSpPr/>
          <p:nvPr/>
        </p:nvSpPr>
        <p:spPr>
          <a:xfrm>
            <a:off x="2645783" y="4694448"/>
            <a:ext cx="1316210" cy="578097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VUEX</a:t>
            </a:r>
          </a:p>
        </p:txBody>
      </p:sp>
      <p:pic>
        <p:nvPicPr>
          <p:cNvPr id="30" name="Picture 8" descr="Spring Boot) 스타트 스프링 부트 001일차 - 스프링(부트), 빌드툴, VO, Lombok, 어노테이션, Jackson,  ORM, JPA, Hibernate | 오늘도 끄적끄적">
            <a:extLst>
              <a:ext uri="{FF2B5EF4-FFF2-40B4-BE49-F238E27FC236}">
                <a16:creationId xmlns:a16="http://schemas.microsoft.com/office/drawing/2014/main" id="{1250A813-15EB-6705-5B9C-C03D7292B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396" y="2525740"/>
            <a:ext cx="768729" cy="76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모서리가 둥근 직사각형 43">
            <a:extLst>
              <a:ext uri="{FF2B5EF4-FFF2-40B4-BE49-F238E27FC236}">
                <a16:creationId xmlns:a16="http://schemas.microsoft.com/office/drawing/2014/main" id="{701AFB05-B30E-04C0-7621-375EF83C503D}"/>
              </a:ext>
            </a:extLst>
          </p:cNvPr>
          <p:cNvSpPr/>
          <p:nvPr/>
        </p:nvSpPr>
        <p:spPr>
          <a:xfrm>
            <a:off x="6717425" y="3546958"/>
            <a:ext cx="1347700" cy="584945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Controller</a:t>
            </a:r>
          </a:p>
        </p:txBody>
      </p:sp>
      <p:sp>
        <p:nvSpPr>
          <p:cNvPr id="32" name="모서리가 둥근 직사각형 43">
            <a:extLst>
              <a:ext uri="{FF2B5EF4-FFF2-40B4-BE49-F238E27FC236}">
                <a16:creationId xmlns:a16="http://schemas.microsoft.com/office/drawing/2014/main" id="{8354A486-0AEF-286E-16DD-BD5BED4388AA}"/>
              </a:ext>
            </a:extLst>
          </p:cNvPr>
          <p:cNvSpPr/>
          <p:nvPr/>
        </p:nvSpPr>
        <p:spPr>
          <a:xfrm>
            <a:off x="8961224" y="3546958"/>
            <a:ext cx="1347700" cy="584946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Service</a:t>
            </a:r>
          </a:p>
        </p:txBody>
      </p:sp>
      <p:sp>
        <p:nvSpPr>
          <p:cNvPr id="33" name="모서리가 둥근 직사각형 43">
            <a:extLst>
              <a:ext uri="{FF2B5EF4-FFF2-40B4-BE49-F238E27FC236}">
                <a16:creationId xmlns:a16="http://schemas.microsoft.com/office/drawing/2014/main" id="{3C869D18-7784-D2C7-5F55-A2F07058D39B}"/>
              </a:ext>
            </a:extLst>
          </p:cNvPr>
          <p:cNvSpPr/>
          <p:nvPr/>
        </p:nvSpPr>
        <p:spPr>
          <a:xfrm>
            <a:off x="8961224" y="4782663"/>
            <a:ext cx="1347700" cy="576371"/>
          </a:xfrm>
          <a:prstGeom prst="roundRect">
            <a:avLst>
              <a:gd name="adj" fmla="val 5033"/>
            </a:avLst>
          </a:prstGeom>
          <a:solidFill>
            <a:schemeClr val="bg1"/>
          </a:solidFill>
          <a:ln w="1905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Repository</a:t>
            </a: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71BEB56D-1D99-5487-68C3-3AED34E92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650" y="4580504"/>
            <a:ext cx="947425" cy="94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3153E31-2A9F-D973-6B40-CEC6D0E01C5A}"/>
              </a:ext>
            </a:extLst>
          </p:cNvPr>
          <p:cNvSpPr txBox="1"/>
          <p:nvPr/>
        </p:nvSpPr>
        <p:spPr>
          <a:xfrm>
            <a:off x="6985061" y="5865981"/>
            <a:ext cx="134770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DataBase</a:t>
            </a:r>
            <a:endParaRPr lang="en-US" altLang="ko-KR" dirty="0">
              <a:solidFill>
                <a:schemeClr val="tx1">
                  <a:lumMod val="95000"/>
                  <a:lumOff val="5000"/>
                </a:schemeClr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Aharoni" panose="02010803020104030203" pitchFamily="2" charset="-79"/>
            </a:endParaRPr>
          </a:p>
        </p:txBody>
      </p:sp>
      <p:pic>
        <p:nvPicPr>
          <p:cNvPr id="38" name="Picture 6" descr="MYSQL] node와 mysql 연동">
            <a:extLst>
              <a:ext uri="{FF2B5EF4-FFF2-40B4-BE49-F238E27FC236}">
                <a16:creationId xmlns:a16="http://schemas.microsoft.com/office/drawing/2014/main" id="{79B79580-1DE2-1150-072F-D77E98E3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886" y="4670040"/>
            <a:ext cx="1176111" cy="78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94513041-794B-6C1D-70CC-98A766AEA10B}"/>
              </a:ext>
            </a:extLst>
          </p:cNvPr>
          <p:cNvCxnSpPr>
            <a:stCxn id="31" idx="1"/>
            <a:endCxn id="29" idx="3"/>
          </p:cNvCxnSpPr>
          <p:nvPr/>
        </p:nvCxnSpPr>
        <p:spPr>
          <a:xfrm rot="10800000" flipV="1">
            <a:off x="3961993" y="3839431"/>
            <a:ext cx="2755432" cy="1144066"/>
          </a:xfrm>
          <a:prstGeom prst="bentConnector3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FDB41F8-31FD-D70B-5498-706FEBA25C42}"/>
              </a:ext>
            </a:extLst>
          </p:cNvPr>
          <p:cNvCxnSpPr/>
          <p:nvPr/>
        </p:nvCxnSpPr>
        <p:spPr>
          <a:xfrm>
            <a:off x="8065125" y="3705726"/>
            <a:ext cx="8960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F8BC638-D76F-F9DA-58A6-261A4EFA5EF8}"/>
              </a:ext>
            </a:extLst>
          </p:cNvPr>
          <p:cNvCxnSpPr>
            <a:cxnSpLocks/>
          </p:cNvCxnSpPr>
          <p:nvPr/>
        </p:nvCxnSpPr>
        <p:spPr>
          <a:xfrm flipH="1">
            <a:off x="8065125" y="3923652"/>
            <a:ext cx="8960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AF948EA-0355-7005-2195-84EC801A0612}"/>
              </a:ext>
            </a:extLst>
          </p:cNvPr>
          <p:cNvCxnSpPr>
            <a:cxnSpLocks/>
          </p:cNvCxnSpPr>
          <p:nvPr/>
        </p:nvCxnSpPr>
        <p:spPr>
          <a:xfrm>
            <a:off x="9895675" y="4153659"/>
            <a:ext cx="0" cy="62900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F8D21C3-890B-E5B1-932E-9D52D6036BC2}"/>
              </a:ext>
            </a:extLst>
          </p:cNvPr>
          <p:cNvCxnSpPr>
            <a:cxnSpLocks/>
          </p:cNvCxnSpPr>
          <p:nvPr/>
        </p:nvCxnSpPr>
        <p:spPr>
          <a:xfrm flipV="1">
            <a:off x="9446498" y="4131903"/>
            <a:ext cx="0" cy="65076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99836CC-32F9-5E39-69D1-20ECDBADD15B}"/>
              </a:ext>
            </a:extLst>
          </p:cNvPr>
          <p:cNvCxnSpPr/>
          <p:nvPr/>
        </p:nvCxnSpPr>
        <p:spPr>
          <a:xfrm>
            <a:off x="8065125" y="4916905"/>
            <a:ext cx="8960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11A0E74-54CC-3B72-AE4B-AE98F24461B0}"/>
              </a:ext>
            </a:extLst>
          </p:cNvPr>
          <p:cNvCxnSpPr>
            <a:cxnSpLocks/>
          </p:cNvCxnSpPr>
          <p:nvPr/>
        </p:nvCxnSpPr>
        <p:spPr>
          <a:xfrm flipH="1">
            <a:off x="8065125" y="5170927"/>
            <a:ext cx="896099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349095-538C-025A-0ACB-9CE3BFA3C8BC}"/>
              </a:ext>
            </a:extLst>
          </p:cNvPr>
          <p:cNvCxnSpPr>
            <a:cxnSpLocks/>
          </p:cNvCxnSpPr>
          <p:nvPr/>
        </p:nvCxnSpPr>
        <p:spPr>
          <a:xfrm>
            <a:off x="3501281" y="4153659"/>
            <a:ext cx="0" cy="54720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4E8CD5E-275A-B4F6-ECFB-C35113636D02}"/>
              </a:ext>
            </a:extLst>
          </p:cNvPr>
          <p:cNvCxnSpPr>
            <a:cxnSpLocks/>
          </p:cNvCxnSpPr>
          <p:nvPr/>
        </p:nvCxnSpPr>
        <p:spPr>
          <a:xfrm flipV="1">
            <a:off x="3010937" y="4131903"/>
            <a:ext cx="0" cy="54078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73" name="연결선: 꺾임 3072">
            <a:extLst>
              <a:ext uri="{FF2B5EF4-FFF2-40B4-BE49-F238E27FC236}">
                <a16:creationId xmlns:a16="http://schemas.microsoft.com/office/drawing/2014/main" id="{4A2B46E9-E5D8-88E9-9F3F-2D8304066A9B}"/>
              </a:ext>
            </a:extLst>
          </p:cNvPr>
          <p:cNvCxnSpPr>
            <a:cxnSpLocks/>
          </p:cNvCxnSpPr>
          <p:nvPr/>
        </p:nvCxnSpPr>
        <p:spPr>
          <a:xfrm flipV="1">
            <a:off x="1935997" y="3820958"/>
            <a:ext cx="678296" cy="270073"/>
          </a:xfrm>
          <a:prstGeom prst="bentConnector3">
            <a:avLst>
              <a:gd name="adj1" fmla="val -3214"/>
            </a:avLst>
          </a:prstGeom>
          <a:ln w="5715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40713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회원정보 등록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삭제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조회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0C044D-5348-7032-F688-EC0293C5D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922669"/>
            <a:ext cx="5283799" cy="461128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6482EA-9D8F-A5DD-11A6-7BE6BE6D8D64}"/>
              </a:ext>
            </a:extLst>
          </p:cNvPr>
          <p:cNvSpPr txBox="1"/>
          <p:nvPr/>
        </p:nvSpPr>
        <p:spPr>
          <a:xfrm>
            <a:off x="1265214" y="2293092"/>
            <a:ext cx="3796144" cy="327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등록</a:t>
            </a: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아이디 중복체크 기능</a:t>
            </a: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아이디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비밀번호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이름 글자수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이메일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전화번호 형식</a:t>
            </a: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-&gt;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입력 값에 대한 유효성 검사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0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조회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수정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삭제</a:t>
            </a: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아이디는 수정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삭제 불가능</a:t>
            </a: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회원 탈퇴 시 로그아웃</a:t>
            </a:r>
          </a:p>
        </p:txBody>
      </p:sp>
    </p:spTree>
    <p:extLst>
      <p:ext uri="{BB962C8B-B14F-4D97-AF65-F5344CB8AC3E}">
        <p14:creationId xmlns:p14="http://schemas.microsoft.com/office/powerpoint/2010/main" val="387754388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로그아웃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482EA-9D8F-A5DD-11A6-7BE6BE6D8D64}"/>
              </a:ext>
            </a:extLst>
          </p:cNvPr>
          <p:cNvSpPr txBox="1"/>
          <p:nvPr/>
        </p:nvSpPr>
        <p:spPr>
          <a:xfrm>
            <a:off x="914232" y="2511287"/>
            <a:ext cx="5181768" cy="1811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가입한 아이디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비밀번호로 로그인 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로그인 시 우측 상단 헤더 변경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네이버 연동 로그인 기능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kern="1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비밀번호 찾기 기능</a:t>
            </a: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457200"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05407A-08FC-60D0-D885-FACDA08C3B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11" t="4213" r="-4611" b="-4213"/>
          <a:stretch/>
        </p:blipFill>
        <p:spPr>
          <a:xfrm>
            <a:off x="5983382" y="1669822"/>
            <a:ext cx="5105286" cy="26410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715DF67-012F-228F-232A-F0741C35A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2242" y="3206241"/>
            <a:ext cx="3019813" cy="3316916"/>
          </a:xfrm>
          <a:prstGeom prst="rect">
            <a:avLst/>
          </a:prstGeom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767AB84A-FABC-8E91-7643-F2F29FD8577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67"/>
          <a:stretch/>
        </p:blipFill>
        <p:spPr>
          <a:xfrm>
            <a:off x="4127313" y="4050963"/>
            <a:ext cx="4309809" cy="227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8556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게시판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글 등록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수정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삭제</a:t>
            </a:r>
            <a:r>
              <a:rPr lang="en-US" altLang="ko-KR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검색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482EA-9D8F-A5DD-11A6-7BE6BE6D8D64}"/>
              </a:ext>
            </a:extLst>
          </p:cNvPr>
          <p:cNvSpPr txBox="1"/>
          <p:nvPr/>
        </p:nvSpPr>
        <p:spPr>
          <a:xfrm>
            <a:off x="903181" y="2836666"/>
            <a:ext cx="4924488" cy="1078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로그인 시 게시판 글 등록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수정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삭제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조회 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본인이 등록하지 않은 글</a:t>
            </a:r>
            <a:r>
              <a:rPr lang="ko-KR" altLang="en-US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수정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삭제 불가능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게시판 댓글 기능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D4D50F-82AB-A144-C1B5-0998037D10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88"/>
          <a:stretch/>
        </p:blipFill>
        <p:spPr>
          <a:xfrm>
            <a:off x="6490798" y="1814947"/>
            <a:ext cx="4092308" cy="3325085"/>
          </a:xfrm>
          <a:prstGeom prst="rect">
            <a:avLst/>
          </a:prstGeom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F25924C-C06E-71E7-8240-8348E2D559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614" y="5173570"/>
            <a:ext cx="5412677" cy="150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7135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실거래가 조회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D3094-B8C8-9B1E-7935-EEABA8D9EC36}"/>
              </a:ext>
            </a:extLst>
          </p:cNvPr>
          <p:cNvSpPr txBox="1"/>
          <p:nvPr/>
        </p:nvSpPr>
        <p:spPr>
          <a:xfrm>
            <a:off x="8044115" y="3025892"/>
            <a:ext cx="3548901" cy="2235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시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군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구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동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/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아파트별 이름 검색 기능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거리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이름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건축 년도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오름차순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내림차순 정렬 가능 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지역에 따른 교통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명소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학군 정보 제공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kern="1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연도별 평균 거래가 그래프 제공</a:t>
            </a: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ACD07E-1117-9FB6-046D-4A579B49E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46" y="2305283"/>
            <a:ext cx="7727999" cy="383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49334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실거래가 조회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D3094-B8C8-9B1E-7935-EEABA8D9EC36}"/>
              </a:ext>
            </a:extLst>
          </p:cNvPr>
          <p:cNvSpPr txBox="1"/>
          <p:nvPr/>
        </p:nvSpPr>
        <p:spPr>
          <a:xfrm>
            <a:off x="8311662" y="3048523"/>
            <a:ext cx="3548901" cy="207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아파트 목록 리스트로 제공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검색 결과 지도에 마커로 표</a:t>
            </a:r>
            <a:r>
              <a:rPr lang="ko-KR" altLang="en-US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시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카테고리별 주변 상권 조회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지도에서 주변 은행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마트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약국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주유소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카페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편의점 조회 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C73DD9-4B1F-1B17-86B9-10AAC27FF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39" y="2158674"/>
            <a:ext cx="8093697" cy="388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1250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상세 조회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D3094-B8C8-9B1E-7935-EEABA8D9EC36}"/>
              </a:ext>
            </a:extLst>
          </p:cNvPr>
          <p:cNvSpPr txBox="1"/>
          <p:nvPr/>
        </p:nvSpPr>
        <p:spPr>
          <a:xfrm>
            <a:off x="766284" y="2240577"/>
            <a:ext cx="4036626" cy="1342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en-US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연도별 평균 거래가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그래프 제공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거래날짜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거래금액 순 검색</a:t>
            </a:r>
            <a:r>
              <a:rPr lang="ko-KR" altLang="en-US" sz="1600" kern="1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과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오름차순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내림차순 정렬 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ADDEACA-945B-CB4F-3E52-CC653762B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806" y="2240577"/>
            <a:ext cx="5040752" cy="32461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755668-373B-4D3F-1633-47180DDB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214" y="3369996"/>
            <a:ext cx="4369097" cy="299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78060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관심매물 등록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D3094-B8C8-9B1E-7935-EEABA8D9EC36}"/>
              </a:ext>
            </a:extLst>
          </p:cNvPr>
          <p:cNvSpPr txBox="1"/>
          <p:nvPr/>
        </p:nvSpPr>
        <p:spPr>
          <a:xfrm>
            <a:off x="891662" y="2925357"/>
            <a:ext cx="4036626" cy="1342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관심있는 매물을 등록하여 마이페이지에서 조회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삭제 가능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아파트 상세 조회 페이지에서 등록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가능</a:t>
            </a: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ko-KR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0F6E9B-AFE2-944B-BEB5-D0559F68A2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2" t="1542" r="1897" b="-1542"/>
          <a:stretch/>
        </p:blipFill>
        <p:spPr>
          <a:xfrm>
            <a:off x="5399529" y="3694545"/>
            <a:ext cx="6425655" cy="24475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EFA34C-B5E2-1884-1823-3A062C31818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561" r="6291"/>
          <a:stretch/>
        </p:blipFill>
        <p:spPr>
          <a:xfrm>
            <a:off x="6429999" y="2110979"/>
            <a:ext cx="3840837" cy="131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0901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설문조사를 통한 지역 추천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BFC7B-7618-4A57-6D7A-658393B238A1}"/>
              </a:ext>
            </a:extLst>
          </p:cNvPr>
          <p:cNvSpPr txBox="1"/>
          <p:nvPr/>
        </p:nvSpPr>
        <p:spPr>
          <a:xfrm>
            <a:off x="986308" y="2385096"/>
            <a:ext cx="4084456" cy="97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간단한 설문조사를 통해 유형을 나누어 이에 따른 추천 지역 서비스를 제공</a:t>
            </a:r>
          </a:p>
          <a:p>
            <a:pPr marL="74295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마이페이지에서 추천 지역 확인 가능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CD7293-B3D2-62A0-327C-996212FA00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92" r="6548" b="9994"/>
          <a:stretch/>
        </p:blipFill>
        <p:spPr>
          <a:xfrm>
            <a:off x="174067" y="4068132"/>
            <a:ext cx="2893209" cy="160247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EC9C38-DACC-9D88-7386-916809EB3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987" y="3904237"/>
            <a:ext cx="2916564" cy="21552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389B3D5-8CEE-1668-B3B2-11F588CA2E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592" y="1522609"/>
            <a:ext cx="4622379" cy="2011332"/>
          </a:xfrm>
          <a:prstGeom prst="rect">
            <a:avLst/>
          </a:prstGeom>
        </p:spPr>
      </p:pic>
      <p:pic>
        <p:nvPicPr>
          <p:cNvPr id="10" name="그림 9" descr="텍스트, 스크린샷, 산이(가) 표시된 사진&#10;&#10;자동 생성된 설명">
            <a:extLst>
              <a:ext uri="{FF2B5EF4-FFF2-40B4-BE49-F238E27FC236}">
                <a16:creationId xmlns:a16="http://schemas.microsoft.com/office/drawing/2014/main" id="{B5B20F17-0D60-6D0C-752B-FBEC9B10CE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262" y="3429000"/>
            <a:ext cx="5438774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3716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최신 부동산 뉴스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E2576-192E-B894-9E05-A19442EE2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652" y="3285736"/>
            <a:ext cx="4794184" cy="266235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AAF2207-0C45-2EE7-2A19-9A83B322CAB3}"/>
              </a:ext>
            </a:extLst>
          </p:cNvPr>
          <p:cNvSpPr txBox="1"/>
          <p:nvPr/>
        </p:nvSpPr>
        <p:spPr>
          <a:xfrm>
            <a:off x="1492491" y="2346485"/>
            <a:ext cx="4185883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메인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화면에 최신 부동산 뉴스 기사 정보 제공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285750" lvl="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ko-KR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보고싶은 기사를 클릭하면 페이지 이동 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6BD818-0747-D953-6987-B3E3AB3DB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840" y="1964711"/>
            <a:ext cx="3755637" cy="395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80378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0" y="1"/>
            <a:ext cx="12192000" cy="947116"/>
          </a:xfrm>
          <a:prstGeom prst="rect">
            <a:avLst/>
          </a:prstGeom>
          <a:solidFill>
            <a:srgbClr val="382F80"/>
          </a:solidFill>
          <a:ln>
            <a:noFill/>
          </a:ln>
          <a:effectLst>
            <a:outerShdw blurRad="381000" dist="381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2" latinLnBrk="0">
              <a:lnSpc>
                <a:spcPct val="150000"/>
              </a:lnSpc>
              <a:defRPr/>
            </a:pPr>
            <a:r>
              <a:rPr lang="ko-KR" altLang="en-US" sz="2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주요 기능</a:t>
            </a:r>
            <a:endParaRPr lang="en-US" altLang="ko-KR" sz="1050" kern="0" dirty="0">
              <a:solidFill>
                <a:prstClr val="white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86308" y="715947"/>
            <a:ext cx="10256983" cy="5103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bg2">
                  <a:lumMod val="7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243292" y="715947"/>
            <a:ext cx="498764" cy="510382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CD963FA-706C-41C9-ABB4-A9FC43E5E237}"/>
              </a:ext>
            </a:extLst>
          </p:cNvPr>
          <p:cNvGrpSpPr/>
          <p:nvPr/>
        </p:nvGrpSpPr>
        <p:grpSpPr>
          <a:xfrm>
            <a:off x="11379799" y="835356"/>
            <a:ext cx="225749" cy="271564"/>
            <a:chOff x="9318625" y="1320799"/>
            <a:chExt cx="411780" cy="495349"/>
          </a:xfrm>
        </p:grpSpPr>
        <p:sp>
          <p:nvSpPr>
            <p:cNvPr id="35" name="원형: 비어 있음 10">
              <a:extLst>
                <a:ext uri="{FF2B5EF4-FFF2-40B4-BE49-F238E27FC236}">
                  <a16:creationId xmlns:a16="http://schemas.microsoft.com/office/drawing/2014/main" id="{50ABAA4E-830C-47B1-9918-C85BDD5CBC76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사각형: 둥근 모서리 12">
              <a:extLst>
                <a:ext uri="{FF2B5EF4-FFF2-40B4-BE49-F238E27FC236}">
                  <a16:creationId xmlns:a16="http://schemas.microsoft.com/office/drawing/2014/main" id="{0CE6BAC4-D940-478B-ADC2-975F58EF8A79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DD844856-F89E-7237-507F-9A0821E7A9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3" y="147782"/>
            <a:ext cx="387093" cy="387093"/>
          </a:xfrm>
          <a:prstGeom prst="rect">
            <a:avLst/>
          </a:prstGeom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7F359C30-28E8-3669-664B-3CB94C2174C1}"/>
              </a:ext>
            </a:extLst>
          </p:cNvPr>
          <p:cNvSpPr/>
          <p:nvPr/>
        </p:nvSpPr>
        <p:spPr>
          <a:xfrm>
            <a:off x="1187030" y="1646714"/>
            <a:ext cx="305461" cy="317997"/>
          </a:xfrm>
          <a:prstGeom prst="ellipse">
            <a:avLst/>
          </a:prstGeom>
          <a:solidFill>
            <a:srgbClr val="00B0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E2217F0-0EF9-DA05-DA2E-681A0CFA8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214" y="1707225"/>
            <a:ext cx="167568" cy="215444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B6E838F-840C-1B4D-976E-CE66719B5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709" y="1596752"/>
            <a:ext cx="849976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아파트 검색 순위</a:t>
            </a:r>
            <a:endParaRPr lang="en-US" altLang="ko-KR" sz="2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00729A-6C7B-82C4-55E4-BCAFDA24B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43" y="1964006"/>
            <a:ext cx="5683944" cy="32326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63F42C-9829-B33D-C57B-3B2733A9F061}"/>
              </a:ext>
            </a:extLst>
          </p:cNvPr>
          <p:cNvSpPr txBox="1"/>
          <p:nvPr/>
        </p:nvSpPr>
        <p:spPr>
          <a:xfrm>
            <a:off x="1265214" y="3223940"/>
            <a:ext cx="4309972" cy="712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메인</a:t>
            </a:r>
            <a:r>
              <a:rPr lang="en-US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화면에 </a:t>
            </a:r>
            <a:r>
              <a:rPr lang="ko-KR" altLang="en-US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아파트 검색 순위 정보</a:t>
            </a:r>
            <a:r>
              <a:rPr lang="ko-KR" altLang="ko-KR" sz="1600" kern="1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제공</a:t>
            </a:r>
            <a:endParaRPr lang="en-US" altLang="ko-KR" sz="1600" kern="100" dirty="0">
              <a:effectLst/>
              <a:latin typeface="나눔스퀘어_ac" panose="020B0600000101010101" pitchFamily="50" charset="-127"/>
              <a:ea typeface="나눔스퀘어_ac" panose="020B0600000101010101" pitchFamily="50" charset="-127"/>
              <a:cs typeface="Times New Roman" panose="02020603050405020304" pitchFamily="18" charset="0"/>
            </a:endParaRPr>
          </a:p>
          <a:p>
            <a:pPr marL="285750" lvl="0" indent="-285750" algn="just" latinLnBrk="1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ko-KR" altLang="en-US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아파트 이름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을</a:t>
            </a:r>
            <a:r>
              <a:rPr lang="ko-KR" altLang="ko-KR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클릭하면</a:t>
            </a:r>
            <a:r>
              <a:rPr lang="en-US" altLang="ko-KR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상세 조회</a:t>
            </a:r>
            <a:r>
              <a:rPr lang="ko-KR" altLang="ko-KR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페이지</a:t>
            </a:r>
            <a:r>
              <a:rPr lang="ko-KR" altLang="en-US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로</a:t>
            </a:r>
            <a:r>
              <a:rPr lang="ko-KR" altLang="ko-KR" sz="1600" dirty="0">
                <a:effectLst/>
                <a:latin typeface="나눔스퀘어_ac" panose="020B0600000101010101" pitchFamily="50" charset="-127"/>
                <a:ea typeface="나눔스퀘어_ac" panose="020B0600000101010101" pitchFamily="50" charset="-127"/>
                <a:cs typeface="Times New Roman" panose="02020603050405020304" pitchFamily="18" charset="0"/>
              </a:rPr>
              <a:t> 이동 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612526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265B0F-6A62-4D15-B27D-48FBA239DCB3}"/>
              </a:ext>
            </a:extLst>
          </p:cNvPr>
          <p:cNvSpPr/>
          <p:nvPr/>
        </p:nvSpPr>
        <p:spPr>
          <a:xfrm>
            <a:off x="3548010" y="752098"/>
            <a:ext cx="5449453" cy="5500914"/>
          </a:xfrm>
          <a:prstGeom prst="roundRect">
            <a:avLst>
              <a:gd name="adj" fmla="val 6925"/>
            </a:avLst>
          </a:prstGeom>
          <a:solidFill>
            <a:srgbClr val="382F80"/>
          </a:solidFill>
          <a:ln>
            <a:noFill/>
          </a:ln>
          <a:effectLst>
            <a:outerShdw blurRad="304800" dist="635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820F08F-9400-480E-893B-2BD8CC7A3874}"/>
              </a:ext>
            </a:extLst>
          </p:cNvPr>
          <p:cNvSpPr/>
          <p:nvPr/>
        </p:nvSpPr>
        <p:spPr>
          <a:xfrm>
            <a:off x="3946421" y="3716642"/>
            <a:ext cx="4652633" cy="2536370"/>
          </a:xfrm>
          <a:prstGeom prst="roundRect">
            <a:avLst>
              <a:gd name="adj" fmla="val 786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0FAEEC9-72DF-44D0-A353-3DDA14FA5102}"/>
              </a:ext>
            </a:extLst>
          </p:cNvPr>
          <p:cNvSpPr/>
          <p:nvPr/>
        </p:nvSpPr>
        <p:spPr>
          <a:xfrm>
            <a:off x="3969511" y="2686002"/>
            <a:ext cx="4629543" cy="304965"/>
          </a:xfrm>
          <a:prstGeom prst="roundRect">
            <a:avLst>
              <a:gd name="adj" fmla="val 10342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HAEBANG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0019BEF-FD97-46A3-BDC2-B419B7328429}"/>
              </a:ext>
            </a:extLst>
          </p:cNvPr>
          <p:cNvGrpSpPr/>
          <p:nvPr/>
        </p:nvGrpSpPr>
        <p:grpSpPr>
          <a:xfrm>
            <a:off x="3807506" y="987457"/>
            <a:ext cx="162005" cy="149510"/>
            <a:chOff x="752762" y="601945"/>
            <a:chExt cx="329913" cy="285555"/>
          </a:xfrm>
          <a:solidFill>
            <a:srgbClr val="FE615C"/>
          </a:solidFill>
        </p:grpSpPr>
        <p:sp>
          <p:nvSpPr>
            <p:cNvPr id="15" name="모서리가 둥근 직사각형 68">
              <a:extLst>
                <a:ext uri="{FF2B5EF4-FFF2-40B4-BE49-F238E27FC236}">
                  <a16:creationId xmlns:a16="http://schemas.microsoft.com/office/drawing/2014/main" id="{20C4C86B-8037-41B4-8A18-C2E25795DCB3}"/>
                </a:ext>
              </a:extLst>
            </p:cNvPr>
            <p:cNvSpPr/>
            <p:nvPr/>
          </p:nvSpPr>
          <p:spPr>
            <a:xfrm>
              <a:off x="752762" y="601945"/>
              <a:ext cx="32991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모서리가 둥근 직사각형 69">
              <a:extLst>
                <a:ext uri="{FF2B5EF4-FFF2-40B4-BE49-F238E27FC236}">
                  <a16:creationId xmlns:a16="http://schemas.microsoft.com/office/drawing/2014/main" id="{BCAD96AD-A50D-40E3-9164-DEB47D7FD9C1}"/>
                </a:ext>
              </a:extLst>
            </p:cNvPr>
            <p:cNvSpPr/>
            <p:nvPr/>
          </p:nvSpPr>
          <p:spPr>
            <a:xfrm>
              <a:off x="752762" y="688730"/>
              <a:ext cx="257176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모서리가 둥근 직사각형 70">
              <a:extLst>
                <a:ext uri="{FF2B5EF4-FFF2-40B4-BE49-F238E27FC236}">
                  <a16:creationId xmlns:a16="http://schemas.microsoft.com/office/drawing/2014/main" id="{0E500BE4-452C-4BC9-BCCB-4BF0C4105DB2}"/>
                </a:ext>
              </a:extLst>
            </p:cNvPr>
            <p:cNvSpPr/>
            <p:nvPr/>
          </p:nvSpPr>
          <p:spPr>
            <a:xfrm>
              <a:off x="752762" y="775515"/>
              <a:ext cx="18002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" name="모서리가 둥근 직사각형 71">
              <a:extLst>
                <a:ext uri="{FF2B5EF4-FFF2-40B4-BE49-F238E27FC236}">
                  <a16:creationId xmlns:a16="http://schemas.microsoft.com/office/drawing/2014/main" id="{4538DF11-B849-48FE-B436-F70F71B9B111}"/>
                </a:ext>
              </a:extLst>
            </p:cNvPr>
            <p:cNvSpPr/>
            <p:nvPr/>
          </p:nvSpPr>
          <p:spPr>
            <a:xfrm>
              <a:off x="752762" y="862300"/>
              <a:ext cx="282893" cy="252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BE43B2-0F01-4359-A2A4-2D89CA971130}"/>
              </a:ext>
            </a:extLst>
          </p:cNvPr>
          <p:cNvGrpSpPr/>
          <p:nvPr/>
        </p:nvGrpSpPr>
        <p:grpSpPr>
          <a:xfrm>
            <a:off x="4061874" y="2760924"/>
            <a:ext cx="128949" cy="155119"/>
            <a:chOff x="9318625" y="1320799"/>
            <a:chExt cx="411780" cy="495349"/>
          </a:xfrm>
          <a:solidFill>
            <a:schemeClr val="bg1">
              <a:lumMod val="65000"/>
            </a:schemeClr>
          </a:solidFill>
        </p:grpSpPr>
        <p:sp>
          <p:nvSpPr>
            <p:cNvPr id="12" name="원형: 비어 있음 10">
              <a:extLst>
                <a:ext uri="{FF2B5EF4-FFF2-40B4-BE49-F238E27FC236}">
                  <a16:creationId xmlns:a16="http://schemas.microsoft.com/office/drawing/2014/main" id="{ADBCE68D-5235-4D75-9BBC-8CE1CEFFDDDD}"/>
                </a:ext>
              </a:extLst>
            </p:cNvPr>
            <p:cNvSpPr/>
            <p:nvPr/>
          </p:nvSpPr>
          <p:spPr>
            <a:xfrm>
              <a:off x="9318625" y="1320799"/>
              <a:ext cx="388921" cy="388921"/>
            </a:xfrm>
            <a:prstGeom prst="donut">
              <a:avLst>
                <a:gd name="adj" fmla="val 1218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39C44FD8-FD6F-4BB5-A9A1-B79421FF912D}"/>
                </a:ext>
              </a:extLst>
            </p:cNvPr>
            <p:cNvSpPr/>
            <p:nvPr/>
          </p:nvSpPr>
          <p:spPr>
            <a:xfrm rot="18900000">
              <a:off x="9684686" y="1600148"/>
              <a:ext cx="45719" cy="216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4C3B51C-52FE-45E6-8DCB-2102461D03FE}"/>
              </a:ext>
            </a:extLst>
          </p:cNvPr>
          <p:cNvSpPr txBox="1"/>
          <p:nvPr/>
        </p:nvSpPr>
        <p:spPr>
          <a:xfrm>
            <a:off x="4575308" y="1139659"/>
            <a:ext cx="4023746" cy="1218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5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감사합니다</a:t>
            </a:r>
            <a:r>
              <a:rPr lang="en-US" altLang="ko-KR" sz="5400" b="1" kern="0" dirty="0">
                <a:solidFill>
                  <a:prstClr val="white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.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D78DFC7-24BB-C889-2FCD-6032F27BEB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305" y="4548338"/>
            <a:ext cx="1438862" cy="14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839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550</Words>
  <Application>Microsoft Office PowerPoint</Application>
  <PresentationFormat>와이드스크린</PresentationFormat>
  <Paragraphs>145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나눔스퀘어_ac Bold</vt:lpstr>
      <vt:lpstr>나눔스퀘어_ac ExtraBold</vt:lpstr>
      <vt:lpstr>Arial</vt:lpstr>
      <vt:lpstr>나눔스퀘어_ac</vt:lpstr>
      <vt:lpstr>맑은 고딕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한 다희</cp:lastModifiedBy>
  <cp:revision>18</cp:revision>
  <dcterms:created xsi:type="dcterms:W3CDTF">2021-08-17T03:35:49Z</dcterms:created>
  <dcterms:modified xsi:type="dcterms:W3CDTF">2022-06-20T15:08:54Z</dcterms:modified>
</cp:coreProperties>
</file>